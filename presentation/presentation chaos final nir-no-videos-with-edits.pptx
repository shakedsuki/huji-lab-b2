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96E7F3C7.xml" ContentType="application/vnd.ms-powerpoint.comments+xml"/>
  <Override PartName="/ppt/notesSlides/notesSlide2.xml" ContentType="application/vnd.openxmlformats-officedocument.presentationml.notesSlide+xml"/>
  <Override PartName="/ppt/comments/modernComment_102_4BCF0F63.xml" ContentType="application/vnd.ms-powerpoint.comments+xml"/>
  <Override PartName="/ppt/notesSlides/notesSlide3.xml" ContentType="application/vnd.openxmlformats-officedocument.presentationml.notesSlide+xml"/>
  <Override PartName="/ppt/comments/modernComment_118_DA4A5CAE.xml" ContentType="application/vnd.ms-powerpoint.comments+xml"/>
  <Override PartName="/ppt/notesSlides/notesSlide4.xml" ContentType="application/vnd.openxmlformats-officedocument.presentationml.notesSlide+xml"/>
  <Override PartName="/ppt/comments/modernComment_114_68ED1297.xml" ContentType="application/vnd.ms-powerpoint.comments+xml"/>
  <Override PartName="/ppt/notesSlides/notesSlide5.xml" ContentType="application/vnd.openxmlformats-officedocument.presentationml.notesSlide+xml"/>
  <Override PartName="/ppt/comments/modernComment_10E_98EE6718.xml" ContentType="application/vnd.ms-powerpoint.comments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07" r:id="rId1"/>
  </p:sldMasterIdLst>
  <p:notesMasterIdLst>
    <p:notesMasterId r:id="rId24"/>
  </p:notesMasterIdLst>
  <p:sldIdLst>
    <p:sldId id="256" r:id="rId2"/>
    <p:sldId id="258" r:id="rId3"/>
    <p:sldId id="280" r:id="rId4"/>
    <p:sldId id="276" r:id="rId5"/>
    <p:sldId id="270" r:id="rId6"/>
    <p:sldId id="292" r:id="rId7"/>
    <p:sldId id="257" r:id="rId8"/>
    <p:sldId id="261" r:id="rId9"/>
    <p:sldId id="287" r:id="rId10"/>
    <p:sldId id="293" r:id="rId11"/>
    <p:sldId id="269" r:id="rId12"/>
    <p:sldId id="282" r:id="rId13"/>
    <p:sldId id="263" r:id="rId14"/>
    <p:sldId id="301" r:id="rId15"/>
    <p:sldId id="302" r:id="rId16"/>
    <p:sldId id="303" r:id="rId17"/>
    <p:sldId id="304" r:id="rId18"/>
    <p:sldId id="305" r:id="rId19"/>
    <p:sldId id="281" r:id="rId20"/>
    <p:sldId id="264" r:id="rId21"/>
    <p:sldId id="290" r:id="rId22"/>
    <p:sldId id="26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9C0710-A983-4ED3-0435-84520B79ED0F}" name="Shaked Sukiennik" initials="SS" userId="90847293a5474741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69477" autoAdjust="0"/>
  </p:normalViewPr>
  <p:slideViewPr>
    <p:cSldViewPr snapToGrid="0">
      <p:cViewPr varScale="1">
        <p:scale>
          <a:sx n="107" d="100"/>
          <a:sy n="107" d="100"/>
        </p:scale>
        <p:origin x="1338" y="96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omments/modernComment_10E_98EE671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5754C4-8025-4013-9ADB-5C2DA2B6AAA2}" authorId="{769C0710-A983-4ED3-0435-84520B79ED0F}" created="2026-06-29T15:07:05.526">
    <pc:sldMkLst xmlns:pc="http://schemas.microsoft.com/office/powerpoint/2013/main/command">
      <pc:docMk/>
      <pc:sldMk cId="2565760792" sldId="270"/>
    </pc:sldMkLst>
    <p188:txBody>
      <a:bodyPr/>
      <a:lstStyle/>
      <a:p>
        <a:r>
          <a:rPr lang="he-IL"/>
          <a:t>החלפתי את הסדר המקורי של השקופיות 5-6 כדי שהמהלך מאחורי המוטיבציה יהיה כרונולוגי יותר: קודם כל מציגים את החולשות של מטוטלת כפולה רגילה, אומרים מה לא טוב בה, ומציעים את הפתרון
</a:t>
        </a:r>
      </a:p>
    </p188:txBody>
  </p188:cm>
</p188:cmLst>
</file>

<file path=ppt/comments/modernComment_100_96E7F3C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E96E032-D3D1-42B5-900B-68196F15B144}" authorId="{769C0710-A983-4ED3-0435-84520B79ED0F}" created="2026-06-29T14:50:32.05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31783623" sldId="256"/>
      <ac:spMk id="2" creationId="{7E4C4933-6635-0CD4-E798-A2ED959E279B}"/>
    </ac:deMkLst>
    <p188:txBody>
      <a:bodyPr/>
      <a:lstStyle/>
      <a:p>
        <a:r>
          <a:rPr lang="he-IL"/>
          <a:t>לא התחברתי לניסוח של הכותרת, ובפרט לא למשתנה "רמת הכאוטיות" שלדעתי הוא לא מוגדר ולא ברור. 
הצעות לשיפור: 
"הופעת כאוס במטוטלת כפולה מאולצת כתלות בדירות הכוח המאלץ" או "מתי מטוטלת כפולה מאולצת נעשית כאוטית? תלות אופי התנועה בתדירות האילוץ"  </a:t>
        </a:r>
      </a:p>
    </p188:txBody>
  </p188:cm>
</p188:cmLst>
</file>

<file path=ppt/comments/modernComment_102_4BCF0F6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1A9B6AB-833F-490C-BB90-3FE0F98305A2}" authorId="{769C0710-A983-4ED3-0435-84520B79ED0F}" created="2026-06-29T14:51:50.9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71861091" sldId="258"/>
      <ac:spMk id="3" creationId="{41E2F2B1-0AE5-F38E-FD3D-E66EC84942FB}"/>
    </ac:deMkLst>
    <p188:replyLst>
      <p188:reply id="{2D3B032A-E009-4C45-9A99-A014A6E8EBE9}" authorId="{769C0710-A983-4ED3-0435-84520B79ED0F}" created="2026-06-29T14:53:13.484">
        <p188:txBody>
          <a:bodyPr/>
          <a:lstStyle/>
          <a:p>
            <a:r>
              <a:rPr lang="he-IL"/>
              <a:t>הערה סגנונית כללית: לא נהוג להוסיף רק תת-נקודה אחת ("רגישות לתנאי התחלה"). אם יש רק אחת כזאת, אז מקפלים את זה כבר לנקודה ראשית אחת ("במערכות כאוטיות ישנה רגישות לתנאי התחלה")</a:t>
            </a:r>
          </a:p>
        </p188:txBody>
      </p188:reply>
    </p188:replyLst>
    <p188:txBody>
      <a:bodyPr/>
      <a:lstStyle/>
      <a:p>
        <a:r>
          <a:rPr lang="he-IL"/>
          <a:t>כמו ששוחננו והסכמנו בנושא, צריך לעבות את החלק של "כאוס" כמושג יסוד מרכזי: לא מספיק רגישות לתנאי התחלה. צריך להזכיר גם את התכונה של מערכת דטרמינסטית, וגם את הנטייה להתבדרות (כמו בקולוקוויום)</a:t>
        </a:r>
      </a:p>
    </p188:txBody>
  </p188:cm>
</p188:cmLst>
</file>

<file path=ppt/comments/modernComment_114_68ED129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2D5D13B-DF76-4D21-9EBD-387F808FC19F}" authorId="{769C0710-A983-4ED3-0435-84520B79ED0F}" created="2026-06-29T14:55:15.380">
    <pc:sldMkLst xmlns:pc="http://schemas.microsoft.com/office/powerpoint/2013/main/command">
      <pc:docMk/>
      <pc:sldMk cId="1760367255" sldId="276"/>
    </pc:sldMkLst>
    <p188:txBody>
      <a:bodyPr/>
      <a:lstStyle/>
      <a:p>
        <a:r>
          <a:rPr lang="he-IL"/>
          <a:t>שקופית מצוינת לדעתי. הדגשתי בנקודות את התווית a,b של הרגפים והדגשתי בניסוח את הבדידות מול רציפות
</a:t>
        </a:r>
      </a:p>
    </p188:txBody>
  </p188:cm>
</p188:cmLst>
</file>

<file path=ppt/comments/modernComment_118_DA4A5CA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CAA086-67B1-4770-904A-A3A29A483B57}" authorId="{769C0710-A983-4ED3-0435-84520B79ED0F}" created="2026-06-29T14:54:09.50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662306478" sldId="280"/>
      <ac:spMk id="3" creationId="{CE991D54-8B9F-E073-09DF-394929CDD08E}"/>
    </ac:deMkLst>
    <p188:replyLst>
      <p188:reply id="{80141220-6C92-47C2-8CCB-ADD74468F1FC}" authorId="{769C0710-A983-4ED3-0435-84520B79ED0F}" created="2026-06-29T14:54:27.992">
        <p188:txBody>
          <a:bodyPr/>
          <a:lstStyle/>
          <a:p>
            <a:r>
              <a:rPr lang="he-IL"/>
              <a:t>וגם: צריך לדאוג שהסרטונים לא מתנגנים בזמן שאנחנו מדברים, אחרת חלוקת הקשב יופנה לטובת הסרטון (ולא אלינו)
</a:t>
            </a:r>
          </a:p>
        </p188:txBody>
      </p188:reply>
    </p188:replyLst>
    <p188:txBody>
      <a:bodyPr/>
      <a:lstStyle/>
      <a:p>
        <a:r>
          <a:rPr lang="he-IL"/>
          <a:t>למה רק מרחבהפאזה של מערכת שאינה כאוטית מופיע כאנימציה? למה לא גם התחתון? 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9T15:01:45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857 145 24575,'-1'-6'0,"-1"-1"0,-1 1 0,0 0 0,1 0 0,-2 0 0,1 0 0,-1 0 0,0 1 0,0-1 0,0 1 0,-9-8 0,6 5 0,1 3 0,1 0 0,-1 0 0,-1 0 0,1 1 0,-1-1 0,0 1 0,0 1 0,0 0 0,0 0 0,-1 0 0,1 1 0,-1 0 0,-14-2 0,-10 1 0,1 1 0,-37 2 0,40 1 0,9 0 0,1 2 0,-1 0 0,1 1 0,0 0 0,0 2 0,0 0 0,1 1 0,0 1 0,0 0 0,1 2 0,0-1 0,0 2 0,-27 25 0,9-5 0,3 1 0,0 2 0,2 2 0,-40 62 0,59-80 0,0 0 0,1 1 0,1 0 0,1 0 0,1 1 0,0 0 0,2 0 0,0 1 0,1-1 0,1 1 0,1-1 0,1 1 0,1 0 0,1-1 0,0 1 0,2-1 0,0 1 0,1-1 0,1-1 0,1 1 0,13 23 0,-12-29 0,0-1 0,2-1 0,-1 1 0,2-2 0,0 1 0,0-2 0,1 1 0,0-1 0,1-1 0,0 0 0,19 9 0,13 5 0,2-2 0,55 17 0,-66-26 0,32 12 0,112 24 0,-159-44 0,0-1 0,0-1 0,0-1 0,0-1 0,0 0 0,-1-2 0,1 0 0,0-2 0,0 0 0,22-8 0,-34 8 0,0 0 0,-1 0 0,1-1 0,-1 0 0,1 0 0,-2-1 0,1 0 0,-1 0 0,1-1 0,-2 0 0,1 0 0,-1-1 0,0 0 0,-1 0 0,0 0 0,0-1 0,-1 0 0,0 1 0,0-2 0,-1 1 0,0 0 0,1-11 0,2-19 0,-1 0 0,-2-1 0,-2 1 0,-5-47 0,2 21 0,2 35 0,-1 1 0,-2-1 0,-1 1 0,-1 0 0,-2 0 0,0 0 0,-2 1 0,-1 0 0,-2 1 0,0 0 0,-2 1 0,-1 0 0,-29-38 0,41 61-36,-7-11-112,-1 0 0,0 0 1,-1 1-1,-1 1 0,0 0 1,0 0-1,-1 2 1,-20-13-1,20 18-6678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DE972-52EE-4BE8-8395-B1A624775C00}" type="datetimeFigureOut">
              <a:rPr lang="en-IL" smtClean="0"/>
              <a:t>06/29/2026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ECCC29-C420-4A4F-8834-F3F7A15FBE7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53141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אנחנו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98798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ניר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21151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96A54-E9F5-E370-EE8F-ABE9DE701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80F9C-4616-705D-6F39-88DE9AD11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7D10B-367A-585D-51CD-326900217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ניר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40068-12F9-4A47-5088-0530CC4F9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96964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3B41B-AEC8-F1AB-4F4C-9D064E4DE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DA28F-8E9E-0338-A9D2-18809511C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114560-07DE-3EAD-04FD-B35C4E1FA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ניר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09DE0-C7F2-2B88-4E96-DC67E1885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6583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08F50-B641-8C68-34AD-98FCF8BB0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C974B8-F1FF-383C-A183-52B43ED57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C718B-AC37-8446-6F3D-182F34EE3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lnSpc>
                <a:spcPct val="150000"/>
              </a:lnSpc>
            </a:pPr>
            <a:r>
              <a:rPr lang="he-IL" dirty="0"/>
              <a:t>שקד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B0702-41F6-8114-CD86-E91E2235F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72488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7A9BD-E7B8-5F5E-8F31-5372A80B2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233F6-B2C4-2786-4638-A2DFEB33B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E2599-A763-B384-598C-26FD4578E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שקד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250B4-9F1B-E675-FED4-48A19E276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48374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שקד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060222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שקד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50904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שקד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18532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87CF7-BED3-2CD1-1BB2-A3835E779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906094-CF27-99F2-EA23-1833F039C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AC8AF8-E590-1440-EC24-48627A27D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שקד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86D06-9720-48E0-A1DB-223542FD0C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40550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ניר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677164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ניר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835802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ניר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896931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9CBA5-1A27-F8A5-CEE6-15B7DD5B0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B706D-3F5A-2848-8D64-E8F608689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7D310B-8F65-491A-E68F-F3A8AC719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שקד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2670D-1A2E-0F52-B19C-DA10CB2ED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879963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62D5D-2C27-1A99-17BF-E44601495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F9ED4-1E20-C353-4393-73D83072A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94129-3C1E-01FA-0FE8-80CA40C2D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שקד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3F3E3-55E8-394A-C216-546EED849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574569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86A22-0077-D9E2-6CA8-3063B037D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12659-3677-F5FE-F988-FD89BD6B5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C66E0D-808D-372E-B12C-7FAAAA7DD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שקד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77837-AA71-C111-E5BE-7AC480354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247128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6765B-D1A0-C8B0-B734-A8D51611C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731D2-1F3B-021C-4DA5-FDD4BA42F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F8A81-D814-3FD0-2216-8F7E13EF2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שקד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36EFE-4DF9-9B47-B6DC-E9CFC49F1D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887461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B505B-C167-9763-DAE7-376CB4E3D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AFA46-AE7B-D0A4-307D-4215F7FA3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52B1B-7D69-0507-FF73-3CD2C2075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שקד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EE300-3F65-1752-59ED-BE4961877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18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35818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A09E0-CA37-FADC-EFBF-EFC1E1D7D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461CF-ADC5-0A2A-2D30-9E328F732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28A0F-6D47-B1D0-80C0-9A27BC340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שקד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BEC39-6B93-C850-72A2-563CF70091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19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546118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ניר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20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929707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ED833-7056-1F49-7820-8378C6AD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8295F-3567-6507-22D5-B26C7BBC1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8925A-C818-E9B9-0684-89B006874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ניר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B01C1-85C5-6375-6082-F3D0178257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CCC29-C420-4A4F-8834-F3F7A15FBE7C}" type="slidenum">
              <a:rPr lang="en-IL" smtClean="0"/>
              <a:t>21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50562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766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968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21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03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43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839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26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300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006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4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171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6924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96E7F3C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4BCF0F6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DA4A5CAE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gif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4_68ED129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98EE671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4933-6635-0CD4-E798-A2ED959E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6340" y="-338137"/>
            <a:ext cx="9470611" cy="2387600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 dirty="0"/>
              <a:t>מטוטלת כפולה בתוספת כוח מאלץ -  </a:t>
            </a:r>
            <a:br>
              <a:rPr lang="he-IL" dirty="0"/>
            </a:br>
            <a:r>
              <a:rPr lang="he-IL" dirty="0"/>
              <a:t>תלות </a:t>
            </a:r>
            <a:r>
              <a:rPr lang="en-US" dirty="0"/>
              <a:t>"</a:t>
            </a:r>
            <a:r>
              <a:rPr lang="he-IL" dirty="0"/>
              <a:t>רמת הכאוטיות</a:t>
            </a:r>
            <a:r>
              <a:rPr lang="en-US" dirty="0"/>
              <a:t>"</a:t>
            </a:r>
            <a:r>
              <a:rPr lang="he-IL" dirty="0"/>
              <a:t> בתדירות האילוץ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B623C9-7D83-B044-BF44-4B48755BC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2702" y="5890760"/>
            <a:ext cx="8791575" cy="1655762"/>
          </a:xfrm>
        </p:spPr>
        <p:txBody>
          <a:bodyPr/>
          <a:lstStyle/>
          <a:p>
            <a:pPr algn="r" rtl="1"/>
            <a:r>
              <a:rPr lang="he-IL" dirty="0"/>
              <a:t>מציגים: שקד </a:t>
            </a:r>
            <a:r>
              <a:rPr lang="he-IL" dirty="0" err="1"/>
              <a:t>סוקניק</a:t>
            </a:r>
            <a:r>
              <a:rPr lang="he-IL" dirty="0"/>
              <a:t> וניר כהן</a:t>
            </a:r>
          </a:p>
          <a:p>
            <a:pPr algn="r" rtl="1"/>
            <a:r>
              <a:rPr lang="he-IL" dirty="0"/>
              <a:t>מנחה: עמרי כהן</a:t>
            </a:r>
            <a:endParaRPr lang="en-IL" dirty="0"/>
          </a:p>
        </p:txBody>
      </p:sp>
      <p:pic>
        <p:nvPicPr>
          <p:cNvPr id="6" name="3.2V_1.00Hz">
            <a:extLst>
              <a:ext uri="{FF2B5EF4-FFF2-40B4-BE49-F238E27FC236}">
                <a16:creationId xmlns:a16="http://schemas.microsoft.com/office/drawing/2014/main" id="{F424ABAA-6F54-E7C3-DAF4-8C449E8F5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042" y="2022226"/>
            <a:ext cx="3360420" cy="3429000"/>
          </a:xfrm>
          <a:prstGeom prst="rect">
            <a:avLst/>
          </a:prstGeom>
        </p:spPr>
      </p:pic>
      <p:pic>
        <p:nvPicPr>
          <p:cNvPr id="8" name="3.2V_0.93Hz">
            <a:extLst>
              <a:ext uri="{FF2B5EF4-FFF2-40B4-BE49-F238E27FC236}">
                <a16:creationId xmlns:a16="http://schemas.microsoft.com/office/drawing/2014/main" id="{48AD3D91-7BB5-6C7A-C143-894E3EB81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2702" y="2049463"/>
            <a:ext cx="331025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7836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CB8F5-19D9-BD3D-12A1-6C5453BC0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מושגי יסוד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2F2B1-0AE5-F38E-FD3D-E66EC8494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כאוס</a:t>
            </a:r>
          </a:p>
          <a:p>
            <a:pPr lvl="1" algn="r" rtl="1"/>
            <a:r>
              <a:rPr lang="he-IL" dirty="0"/>
              <a:t>רגישות לתנאי התחלה</a:t>
            </a:r>
          </a:p>
          <a:p>
            <a:pPr algn="r" rtl="1"/>
            <a:endParaRPr lang="he-IL" dirty="0"/>
          </a:p>
          <a:p>
            <a:pPr marL="0" indent="0" algn="r" rtl="1">
              <a:buNone/>
            </a:pPr>
            <a:endParaRPr lang="he-IL" dirty="0"/>
          </a:p>
        </p:txBody>
      </p:sp>
      <p:pic>
        <p:nvPicPr>
          <p:cNvPr id="6" name="Demonstrating_Chaos_with_a_Double_Pendulum">
            <a:extLst>
              <a:ext uri="{FF2B5EF4-FFF2-40B4-BE49-F238E27FC236}">
                <a16:creationId xmlns:a16="http://schemas.microsoft.com/office/drawing/2014/main" id="{F3AF7EA4-E4DA-BBEF-F812-497D09FAA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167333"/>
            <a:ext cx="5747583" cy="600963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5F83A54-2D5D-7E70-4332-FB89BDDC0619}"/>
              </a:ext>
            </a:extLst>
          </p:cNvPr>
          <p:cNvSpPr txBox="1">
            <a:spLocks/>
          </p:cNvSpPr>
          <p:nvPr/>
        </p:nvSpPr>
        <p:spPr>
          <a:xfrm>
            <a:off x="395064" y="623328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dirty="0"/>
              <a:t>Wikipedia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2718610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A38B2-2695-FF60-D287-536AE2137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A9136-0D21-CE92-4D24-5B95B2E79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מושגי יסוד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91D54-8B9F-E073-09DF-394929CDD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6060" y="1825625"/>
            <a:ext cx="4777740" cy="4351338"/>
          </a:xfrm>
        </p:spPr>
        <p:txBody>
          <a:bodyPr>
            <a:normAutofit/>
          </a:bodyPr>
          <a:lstStyle/>
          <a:p>
            <a:pPr algn="r" rtl="1"/>
            <a:r>
              <a:rPr lang="he-IL" dirty="0"/>
              <a:t>מרחב פאזה</a:t>
            </a:r>
          </a:p>
          <a:p>
            <a:pPr lvl="1" algn="r" rtl="1"/>
            <a:r>
              <a:rPr lang="he-IL" dirty="0"/>
              <a:t>במערכת שאינה כאוטית (ובפרט מחזורית) - נקודה או עקום סגור</a:t>
            </a:r>
          </a:p>
          <a:p>
            <a:pPr lvl="1" algn="r" rtl="1"/>
            <a:r>
              <a:rPr lang="he-IL" dirty="0"/>
              <a:t>במערכת כאוטית – לא עוקבת אחרי עקום סגור, ממלא את המרחב</a:t>
            </a:r>
            <a:endParaRPr lang="en-US" dirty="0"/>
          </a:p>
          <a:p>
            <a:pPr lvl="1" algn="r" rtl="1"/>
            <a:endParaRPr lang="he-IL" dirty="0"/>
          </a:p>
          <a:p>
            <a:pPr algn="r" rtl="1"/>
            <a:endParaRPr lang="he-IL" dirty="0"/>
          </a:p>
          <a:p>
            <a:pPr marL="0" indent="0" algn="r" rtl="1">
              <a:buNone/>
            </a:pPr>
            <a:endParaRPr lang="he-IL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449FCA32-01BD-1250-D66A-BD4767A0F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570" y="233370"/>
            <a:ext cx="3764383" cy="2914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hase Space Representing Chaos in the System | Download Scientific Diagram">
            <a:extLst>
              <a:ext uri="{FF2B5EF4-FFF2-40B4-BE49-F238E27FC236}">
                <a16:creationId xmlns:a16="http://schemas.microsoft.com/office/drawing/2014/main" id="{6921C77E-35C0-59E4-41AB-7BB0BC87D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67" y="3695574"/>
            <a:ext cx="5353690" cy="2741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55DF6B-F6DC-C219-BFE6-D000132E5D4E}"/>
              </a:ext>
            </a:extLst>
          </p:cNvPr>
          <p:cNvSpPr txBox="1">
            <a:spLocks/>
          </p:cNvSpPr>
          <p:nvPr/>
        </p:nvSpPr>
        <p:spPr>
          <a:xfrm>
            <a:off x="335280" y="641983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IL" dirty="0" err="1"/>
              <a:t>Tumolin</a:t>
            </a:r>
            <a:r>
              <a:rPr lang="en-IL" dirty="0"/>
              <a:t> Rocha, Rodrigo</a:t>
            </a:r>
            <a:r>
              <a:rPr lang="en-US" dirty="0"/>
              <a:t> </a:t>
            </a:r>
            <a:r>
              <a:rPr lang="en-US" i="1" dirty="0"/>
              <a:t>et al. </a:t>
            </a:r>
            <a:r>
              <a:rPr lang="en-US" dirty="0"/>
              <a:t>2017</a:t>
            </a:r>
            <a:endParaRPr lang="he-IL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0EB91B-B644-AE22-22F0-401B5B897F63}"/>
              </a:ext>
            </a:extLst>
          </p:cNvPr>
          <p:cNvSpPr txBox="1">
            <a:spLocks/>
          </p:cNvSpPr>
          <p:nvPr/>
        </p:nvSpPr>
        <p:spPr>
          <a:xfrm>
            <a:off x="1492344" y="31624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dirty="0"/>
              <a:t>Wikipedia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623064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E7B60-D474-17AB-1BF8-DCA20E3D4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3A0A-EE32-BCE9-AD84-31F5298E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מושגי יסוד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8B4FF-0769-D23D-9280-FA27B50DE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682"/>
            <a:ext cx="10515600" cy="4351338"/>
          </a:xfrm>
        </p:spPr>
        <p:txBody>
          <a:bodyPr>
            <a:normAutofit/>
          </a:bodyPr>
          <a:lstStyle/>
          <a:p>
            <a:pPr algn="r" rtl="1"/>
            <a:r>
              <a:rPr lang="he-IL" dirty="0"/>
              <a:t>התמרת פורייה – פירוק ספקטרלי</a:t>
            </a:r>
          </a:p>
          <a:p>
            <a:pPr lvl="1" algn="r" rtl="1">
              <a:lnSpc>
                <a:spcPct val="150000"/>
              </a:lnSpc>
            </a:pPr>
            <a:r>
              <a:rPr lang="he-IL" dirty="0"/>
              <a:t>במערכת שאינה כאוטית (</a:t>
            </a:r>
            <a:r>
              <a:rPr lang="en-US" dirty="0"/>
              <a:t>a</a:t>
            </a:r>
            <a:r>
              <a:rPr lang="he-IL" dirty="0"/>
              <a:t>) – מספר תדרים פעילים </a:t>
            </a:r>
            <a:r>
              <a:rPr lang="he-IL" u="sng" dirty="0"/>
              <a:t>בדידים</a:t>
            </a:r>
          </a:p>
          <a:p>
            <a:pPr lvl="1" algn="r" rtl="1"/>
            <a:r>
              <a:rPr lang="he-IL" dirty="0"/>
              <a:t>במערכת כאוטית (</a:t>
            </a:r>
            <a:r>
              <a:rPr lang="en-US" dirty="0"/>
              <a:t>b</a:t>
            </a:r>
            <a:r>
              <a:rPr lang="he-IL" dirty="0"/>
              <a:t>) – תדרים פעילים </a:t>
            </a:r>
            <a:r>
              <a:rPr lang="he-IL" u="sng" dirty="0"/>
              <a:t>רציפים</a:t>
            </a:r>
            <a:endParaRPr lang="he-IL" dirty="0"/>
          </a:p>
        </p:txBody>
      </p:sp>
      <p:pic>
        <p:nvPicPr>
          <p:cNvPr id="2050" name="Picture 2" descr="Fig. 4">
            <a:extLst>
              <a:ext uri="{FF2B5EF4-FFF2-40B4-BE49-F238E27FC236}">
                <a16:creationId xmlns:a16="http://schemas.microsoft.com/office/drawing/2014/main" id="{EDE83A3E-97EE-A38F-765A-7F530F4C08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90"/>
          <a:stretch>
            <a:fillRect/>
          </a:stretch>
        </p:blipFill>
        <p:spPr bwMode="auto">
          <a:xfrm>
            <a:off x="980237" y="3000473"/>
            <a:ext cx="10333128" cy="302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795DEE-B73B-FE33-9371-F80D39F59578}"/>
              </a:ext>
            </a:extLst>
          </p:cNvPr>
          <p:cNvSpPr txBox="1">
            <a:spLocks/>
          </p:cNvSpPr>
          <p:nvPr/>
        </p:nvSpPr>
        <p:spPr>
          <a:xfrm>
            <a:off x="2202180" y="640905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IL" dirty="0" err="1"/>
              <a:t>Vozikis</a:t>
            </a:r>
            <a:r>
              <a:rPr lang="en-IL" dirty="0"/>
              <a:t>, C.</a:t>
            </a:r>
            <a:r>
              <a:rPr lang="he-IL" dirty="0"/>
              <a:t> </a:t>
            </a:r>
            <a:r>
              <a:rPr lang="en-US" i="1" dirty="0"/>
              <a:t>et al. </a:t>
            </a:r>
            <a:r>
              <a:rPr lang="en-US" dirty="0"/>
              <a:t>2024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7603672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CE1BF-C7C3-60C0-92CA-E5258C52D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13C79-2BE9-9423-B74B-958879685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מוטיבציה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49DE8-BBCE-E66F-D17E-AC4A9151C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6212" y="1524631"/>
            <a:ext cx="7523159" cy="4867204"/>
          </a:xfrm>
        </p:spPr>
        <p:txBody>
          <a:bodyPr>
            <a:normAutofit fontScale="85000" lnSpcReduction="10000"/>
          </a:bodyPr>
          <a:lstStyle/>
          <a:p>
            <a:pPr algn="r" rtl="1">
              <a:lnSpc>
                <a:spcPct val="150000"/>
              </a:lnSpc>
            </a:pPr>
            <a:r>
              <a:rPr lang="he-IL" dirty="0"/>
              <a:t>מטוטלות אמיתיות מאבדות אנרגיה לחיכוך</a:t>
            </a:r>
          </a:p>
          <a:p>
            <a:pPr algn="r" rtl="1">
              <a:lnSpc>
                <a:spcPct val="150000"/>
              </a:lnSpc>
            </a:pPr>
            <a:r>
              <a:rPr lang="he-IL" dirty="0"/>
              <a:t>הוספת </a:t>
            </a:r>
            <a:r>
              <a:rPr lang="he-IL" dirty="0" err="1"/>
              <a:t>כח</a:t>
            </a:r>
            <a:r>
              <a:rPr lang="he-IL" dirty="0"/>
              <a:t> מאלץ מאפשר להזריק חזרה אנרגיה למערכת</a:t>
            </a:r>
          </a:p>
          <a:p>
            <a:pPr lvl="1" algn="r" rtl="1">
              <a:lnSpc>
                <a:spcPct val="150000"/>
              </a:lnSpc>
            </a:pPr>
            <a:r>
              <a:rPr lang="he-IL" dirty="0"/>
              <a:t>מאפשר לחקור תכונות כאוטיות לאורך זמן</a:t>
            </a:r>
          </a:p>
          <a:p>
            <a:pPr lvl="1" algn="r" rtl="1">
              <a:lnSpc>
                <a:spcPct val="150000"/>
              </a:lnSpc>
            </a:pPr>
            <a:r>
              <a:rPr lang="he-IL" dirty="0"/>
              <a:t>כתלות בפרמטר תדירות האילוץ (כמה מהר?)</a:t>
            </a:r>
          </a:p>
          <a:p>
            <a:pPr lvl="1" algn="r" rtl="1">
              <a:lnSpc>
                <a:spcPct val="150000"/>
              </a:lnSpc>
            </a:pPr>
            <a:r>
              <a:rPr lang="he-IL" dirty="0"/>
              <a:t>כתלות בפרמטר האמפליטודה של האילוץ (כמה חזק?)</a:t>
            </a:r>
            <a:endParaRPr lang="en-US" dirty="0"/>
          </a:p>
          <a:p>
            <a:pPr algn="r" rtl="1">
              <a:lnSpc>
                <a:spcPct val="150000"/>
              </a:lnSpc>
            </a:pPr>
            <a:r>
              <a:rPr lang="he-IL" dirty="0"/>
              <a:t>אז למה לא מטוטלת יחידה? </a:t>
            </a:r>
          </a:p>
          <a:p>
            <a:pPr lvl="1" algn="r" rtl="1">
              <a:lnSpc>
                <a:spcPct val="150000"/>
              </a:lnSpc>
            </a:pPr>
            <a:r>
              <a:rPr lang="he-IL" dirty="0"/>
              <a:t>מטוטלת יחידה לא מאולצת – לא כאוטית - משעמם</a:t>
            </a:r>
          </a:p>
          <a:p>
            <a:pPr lvl="1" algn="r" rtl="1">
              <a:lnSpc>
                <a:spcPct val="150000"/>
              </a:lnSpc>
            </a:pPr>
            <a:r>
              <a:rPr lang="he-IL" dirty="0"/>
              <a:t>מטוטלת יחידה מאולצת – כן כאוטית - יותר מעניין</a:t>
            </a:r>
          </a:p>
          <a:p>
            <a:pPr lvl="1" algn="r" rtl="1">
              <a:lnSpc>
                <a:spcPct val="150000"/>
              </a:lnSpc>
            </a:pPr>
            <a:r>
              <a:rPr lang="he-IL" dirty="0"/>
              <a:t>מטוטלת כפולה היא כאוטית בין אם מאולצת או לא - הכי מעניין!</a:t>
            </a:r>
          </a:p>
          <a:p>
            <a:pPr algn="r" rtl="1">
              <a:lnSpc>
                <a:spcPct val="150000"/>
              </a:lnSpc>
            </a:pPr>
            <a:endParaRPr lang="en-US" dirty="0"/>
          </a:p>
          <a:p>
            <a:pPr algn="r" rtl="1">
              <a:lnSpc>
                <a:spcPct val="150000"/>
              </a:lnSpc>
            </a:pPr>
            <a:endParaRPr lang="he-I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7DF95F-924B-7AF9-2C66-B15DEC7C8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84" y="804939"/>
            <a:ext cx="3262092" cy="279887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51F7F4-F84B-34E5-F90E-7A0EAC28ECB6}"/>
              </a:ext>
            </a:extLst>
          </p:cNvPr>
          <p:cNvSpPr txBox="1">
            <a:spLocks/>
          </p:cNvSpPr>
          <p:nvPr/>
        </p:nvSpPr>
        <p:spPr>
          <a:xfrm>
            <a:off x="89647" y="390866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dirty="0"/>
              <a:t>Wikipedia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5657607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51188-B00D-3E83-504E-2E0328CF0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98694-DEE2-9B5A-239A-A526E8A9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מוטיבציה - המשך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7BB6A1-4249-86BF-234D-476D9968B1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r" rtl="1">
                  <a:lnSpc>
                    <a:spcPct val="150000"/>
                  </a:lnSpc>
                </a:pPr>
                <a:r>
                  <a:rPr lang="he-IL" dirty="0"/>
                  <a:t>אנחנו נתמקד </a:t>
                </a:r>
                <a:r>
                  <a:rPr lang="he-IL" b="1" dirty="0"/>
                  <a:t>במטוטלת כפולה מאולצת</a:t>
                </a:r>
              </a:p>
              <a:p>
                <a:pPr lvl="1" algn="r" rtl="1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he-IL" dirty="0"/>
                  <a:t> דטרמיניסטית</a:t>
                </a:r>
              </a:p>
              <a:p>
                <a:pPr lvl="1" algn="r" rtl="1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he-IL" dirty="0"/>
                  <a:t> רגישה לתנאי התחלה</a:t>
                </a:r>
              </a:p>
              <a:p>
                <a:pPr lvl="1" algn="r" rtl="1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he-IL" dirty="0"/>
                  <a:t> מתבדרת במהירות</a:t>
                </a:r>
              </a:p>
              <a:p>
                <a:pPr algn="r" rtl="1">
                  <a:lnSpc>
                    <a:spcPct val="150000"/>
                  </a:lnSpc>
                </a:pPr>
                <a:r>
                  <a:rPr lang="he-IL" dirty="0"/>
                  <a:t>בפרט נתמקד בזווית המוט התחתון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he-IL" dirty="0"/>
              </a:p>
              <a:p>
                <a:pPr algn="r" rtl="1">
                  <a:lnSpc>
                    <a:spcPct val="150000"/>
                  </a:lnSpc>
                </a:pPr>
                <a:endParaRPr lang="en-US" dirty="0"/>
              </a:p>
              <a:p>
                <a:pPr algn="r" rtl="1">
                  <a:lnSpc>
                    <a:spcPct val="150000"/>
                  </a:lnSpc>
                </a:pPr>
                <a:endParaRPr lang="he-IL" dirty="0"/>
              </a:p>
              <a:p>
                <a:pPr marL="0" indent="0" algn="r" rtl="1">
                  <a:lnSpc>
                    <a:spcPct val="150000"/>
                  </a:lnSpc>
                  <a:buNone/>
                </a:pPr>
                <a:endParaRPr lang="he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7BB6A1-4249-86BF-234D-476D9968B1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r="-104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947D569B-A2EA-2E18-36F1-116EA42AB9B1}"/>
              </a:ext>
            </a:extLst>
          </p:cNvPr>
          <p:cNvGrpSpPr/>
          <p:nvPr/>
        </p:nvGrpSpPr>
        <p:grpSpPr>
          <a:xfrm>
            <a:off x="1409337" y="814229"/>
            <a:ext cx="3293291" cy="4541544"/>
            <a:chOff x="2484120" y="701040"/>
            <a:chExt cx="2758440" cy="38023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21EC28C-6855-85E3-C47E-E80E8906A4C3}"/>
                </a:ext>
              </a:extLst>
            </p:cNvPr>
            <p:cNvSpPr/>
            <p:nvPr/>
          </p:nvSpPr>
          <p:spPr>
            <a:xfrm>
              <a:off x="2484120" y="701040"/>
              <a:ext cx="2758440" cy="380238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D3035784-422E-2EA8-CF31-E0C8B35A36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5283" y="750871"/>
              <a:ext cx="2616113" cy="35417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96975E0-C7E8-D149-8C47-1EE884C34422}"/>
              </a:ext>
            </a:extLst>
          </p:cNvPr>
          <p:cNvSpPr txBox="1">
            <a:spLocks/>
          </p:cNvSpPr>
          <p:nvPr/>
        </p:nvSpPr>
        <p:spPr>
          <a:xfrm>
            <a:off x="913224" y="549071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dirty="0"/>
              <a:t>Wikipedia</a:t>
            </a:r>
            <a:endParaRPr lang="he-IL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8" name="דיו 27">
                <a:extLst>
                  <a:ext uri="{FF2B5EF4-FFF2-40B4-BE49-F238E27FC236}">
                    <a16:creationId xmlns:a16="http://schemas.microsoft.com/office/drawing/2014/main" id="{DEA19DE6-2BF8-E073-D359-EA2A8CE3C570}"/>
                  </a:ext>
                </a:extLst>
              </p14:cNvPr>
              <p14:cNvContentPartPr/>
              <p14:nvPr/>
            </p14:nvContentPartPr>
            <p14:xfrm>
              <a:off x="2741602" y="4044197"/>
              <a:ext cx="392760" cy="406440"/>
            </p14:xfrm>
          </p:contentPart>
        </mc:Choice>
        <mc:Fallback>
          <p:pic>
            <p:nvPicPr>
              <p:cNvPr id="28" name="דיו 27">
                <a:extLst>
                  <a:ext uri="{FF2B5EF4-FFF2-40B4-BE49-F238E27FC236}">
                    <a16:creationId xmlns:a16="http://schemas.microsoft.com/office/drawing/2014/main" id="{DEA19DE6-2BF8-E073-D359-EA2A8CE3C57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32602" y="4035557"/>
                <a:ext cx="410400" cy="42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9719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AB78-6D57-45A4-4893-C959E3A82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05768"/>
            <a:ext cx="9905998" cy="1478570"/>
          </a:xfrm>
        </p:spPr>
        <p:txBody>
          <a:bodyPr/>
          <a:lstStyle/>
          <a:p>
            <a:pPr algn="r" rtl="1"/>
            <a:r>
              <a:rPr lang="he-IL" dirty="0"/>
              <a:t>מערכת הניסוי</a:t>
            </a:r>
            <a:endParaRPr lang="en-IL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4BFED3-6B56-5558-E78A-D14A964C5AC7}"/>
              </a:ext>
            </a:extLst>
          </p:cNvPr>
          <p:cNvSpPr txBox="1">
            <a:spLocks/>
          </p:cNvSpPr>
          <p:nvPr/>
        </p:nvSpPr>
        <p:spPr>
          <a:xfrm>
            <a:off x="1141412" y="13096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dirty="0"/>
              <a:t>גל מתח ריבועי בתדירויות שקבענו: </a:t>
            </a:r>
            <a:r>
              <a:rPr lang="en-US" dirty="0"/>
              <a:t>0.9-1.34Hz</a:t>
            </a:r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223A41-5DE6-C8FF-6876-426C923D7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64" y="1963360"/>
            <a:ext cx="6028214" cy="3630916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89EDF4E2-BBA0-4CBF-8636-26347484E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778" y="1963360"/>
            <a:ext cx="3734632" cy="423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000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CCDDA-307F-B104-FD3C-25A198D06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341" y="380365"/>
            <a:ext cx="10515600" cy="1325563"/>
          </a:xfrm>
        </p:spPr>
        <p:txBody>
          <a:bodyPr/>
          <a:lstStyle/>
          <a:p>
            <a:pPr algn="r" rtl="1"/>
            <a:r>
              <a:rPr lang="he-IL" dirty="0"/>
              <a:t>עיבוד נתונים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DAEE3-FE7F-3A39-AF70-A64ADBCB3890}"/>
              </a:ext>
            </a:extLst>
          </p:cNvPr>
          <p:cNvSpPr txBox="1">
            <a:spLocks/>
          </p:cNvSpPr>
          <p:nvPr/>
        </p:nvSpPr>
        <p:spPr>
          <a:xfrm>
            <a:off x="8689720" y="1951037"/>
            <a:ext cx="2863221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dirty="0"/>
              <a:t>עיבוד תמונה וחילוץ הזוויות לאורך זמן</a:t>
            </a:r>
          </a:p>
        </p:txBody>
      </p:sp>
      <p:pic>
        <p:nvPicPr>
          <p:cNvPr id="7" name="3.2V_0.98Hz_overlay">
            <a:extLst>
              <a:ext uri="{FF2B5EF4-FFF2-40B4-BE49-F238E27FC236}">
                <a16:creationId xmlns:a16="http://schemas.microsoft.com/office/drawing/2014/main" id="{95AA64A1-EADE-47DE-FDC8-9745B12D2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19" y="213953"/>
            <a:ext cx="8604001" cy="645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148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C2225-72FA-F32F-1815-8A5DBD758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BF219-F810-33A8-28D8-3ECA6123B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505" y="-106995"/>
            <a:ext cx="10515600" cy="1325563"/>
          </a:xfrm>
        </p:spPr>
        <p:txBody>
          <a:bodyPr/>
          <a:lstStyle/>
          <a:p>
            <a:pPr algn="r" rtl="1"/>
            <a:r>
              <a:rPr lang="he-IL" dirty="0"/>
              <a:t>עיבוד נתונים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2770E-625C-C5B8-7B02-F9266EBB005F}"/>
              </a:ext>
            </a:extLst>
          </p:cNvPr>
          <p:cNvSpPr txBox="1">
            <a:spLocks/>
          </p:cNvSpPr>
          <p:nvPr/>
        </p:nvSpPr>
        <p:spPr>
          <a:xfrm>
            <a:off x="6309360" y="817438"/>
            <a:ext cx="5622745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dirty="0"/>
              <a:t>עיבוד תמונה וחילוץ הזוויות לאורך זמן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3A2D79-FD28-B84B-2D19-087917B2F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1" y="1477835"/>
            <a:ext cx="8451822" cy="5039487"/>
          </a:xfrm>
          <a:prstGeom prst="rect">
            <a:avLst/>
          </a:prstGeom>
        </p:spPr>
      </p:pic>
      <p:pic>
        <p:nvPicPr>
          <p:cNvPr id="4" name="3.2V_0.9Hz">
            <a:extLst>
              <a:ext uri="{FF2B5EF4-FFF2-40B4-BE49-F238E27FC236}">
                <a16:creationId xmlns:a16="http://schemas.microsoft.com/office/drawing/2014/main" id="{E1A41190-7C7C-586D-BC7E-34070CE89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895" y="276222"/>
            <a:ext cx="1944917" cy="2000251"/>
          </a:xfrm>
          <a:prstGeom prst="rect">
            <a:avLst/>
          </a:prstGeom>
        </p:spPr>
      </p:pic>
      <p:pic>
        <p:nvPicPr>
          <p:cNvPr id="6" name="3.2V_1.34Hz">
            <a:extLst>
              <a:ext uri="{FF2B5EF4-FFF2-40B4-BE49-F238E27FC236}">
                <a16:creationId xmlns:a16="http://schemas.microsoft.com/office/drawing/2014/main" id="{E70E250B-0C78-224F-261D-6E73FD7516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140" y="4581526"/>
            <a:ext cx="1966376" cy="2119754"/>
          </a:xfrm>
          <a:prstGeom prst="rect">
            <a:avLst/>
          </a:prstGeom>
        </p:spPr>
      </p:pic>
      <p:pic>
        <p:nvPicPr>
          <p:cNvPr id="7" name="3.2V_1.19Hz">
            <a:extLst>
              <a:ext uri="{FF2B5EF4-FFF2-40B4-BE49-F238E27FC236}">
                <a16:creationId xmlns:a16="http://schemas.microsoft.com/office/drawing/2014/main" id="{1E464EC5-AB78-90BD-0B22-5977AC8728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2411983"/>
            <a:ext cx="1944916" cy="203403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753336-AEAC-FA70-C6B3-4F6AA3F75CEF}"/>
              </a:ext>
            </a:extLst>
          </p:cNvPr>
          <p:cNvSpPr txBox="1">
            <a:spLocks/>
          </p:cNvSpPr>
          <p:nvPr/>
        </p:nvSpPr>
        <p:spPr>
          <a:xfrm>
            <a:off x="10800768" y="1960270"/>
            <a:ext cx="1307097" cy="632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0.9 Hz</a:t>
            </a:r>
            <a:endParaRPr lang="he-I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7890593-6869-375D-67EA-D2F931F7CBBB}"/>
              </a:ext>
            </a:extLst>
          </p:cNvPr>
          <p:cNvSpPr txBox="1">
            <a:spLocks/>
          </p:cNvSpPr>
          <p:nvPr/>
        </p:nvSpPr>
        <p:spPr>
          <a:xfrm>
            <a:off x="10725870" y="3428999"/>
            <a:ext cx="1456891" cy="6324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1.19 Hz</a:t>
            </a:r>
            <a:endParaRPr lang="he-I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057D5F2-E2A8-FBE2-0B7E-67C16168A049}"/>
              </a:ext>
            </a:extLst>
          </p:cNvPr>
          <p:cNvSpPr txBox="1">
            <a:spLocks/>
          </p:cNvSpPr>
          <p:nvPr/>
        </p:nvSpPr>
        <p:spPr>
          <a:xfrm>
            <a:off x="10667789" y="5077994"/>
            <a:ext cx="1524211" cy="6310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1.34 Hz</a:t>
            </a:r>
            <a:endParaRPr lang="he-I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391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550AF-D6B3-111D-B7B7-832F0BCA3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1327D-21D6-073D-D061-59062B22C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505" y="-106995"/>
            <a:ext cx="10515600" cy="1325563"/>
          </a:xfrm>
        </p:spPr>
        <p:txBody>
          <a:bodyPr/>
          <a:lstStyle/>
          <a:p>
            <a:pPr algn="r" rtl="1"/>
            <a:r>
              <a:rPr lang="he-IL" dirty="0"/>
              <a:t>עיבוד נתונים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EE233-504F-8346-899D-D176E794F8DF}"/>
              </a:ext>
            </a:extLst>
          </p:cNvPr>
          <p:cNvSpPr txBox="1">
            <a:spLocks/>
          </p:cNvSpPr>
          <p:nvPr/>
        </p:nvSpPr>
        <p:spPr>
          <a:xfrm>
            <a:off x="6309360" y="817438"/>
            <a:ext cx="5622745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dirty="0"/>
              <a:t>עיבוד תמונה וחילוץ הזוויות לאורך זמן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3A1CA4-A120-D4D3-912F-372E2522C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1" y="1477835"/>
            <a:ext cx="8451822" cy="5039487"/>
          </a:xfrm>
          <a:prstGeom prst="rect">
            <a:avLst/>
          </a:prstGeom>
        </p:spPr>
      </p:pic>
      <p:pic>
        <p:nvPicPr>
          <p:cNvPr id="4" name="3.2V_0.9Hz">
            <a:extLst>
              <a:ext uri="{FF2B5EF4-FFF2-40B4-BE49-F238E27FC236}">
                <a16:creationId xmlns:a16="http://schemas.microsoft.com/office/drawing/2014/main" id="{6F965169-DA2B-2EC2-56B1-E7D1ADDAC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895" y="276222"/>
            <a:ext cx="1944917" cy="2000251"/>
          </a:xfrm>
          <a:prstGeom prst="rect">
            <a:avLst/>
          </a:prstGeom>
        </p:spPr>
      </p:pic>
      <p:pic>
        <p:nvPicPr>
          <p:cNvPr id="6" name="3.2V_1.34Hz">
            <a:extLst>
              <a:ext uri="{FF2B5EF4-FFF2-40B4-BE49-F238E27FC236}">
                <a16:creationId xmlns:a16="http://schemas.microsoft.com/office/drawing/2014/main" id="{E4FEA8A6-B3DB-414C-AD55-03C3E9C57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140" y="4581526"/>
            <a:ext cx="1966376" cy="2119754"/>
          </a:xfrm>
          <a:prstGeom prst="rect">
            <a:avLst/>
          </a:prstGeom>
        </p:spPr>
      </p:pic>
      <p:pic>
        <p:nvPicPr>
          <p:cNvPr id="7" name="3.2V_1.19Hz">
            <a:extLst>
              <a:ext uri="{FF2B5EF4-FFF2-40B4-BE49-F238E27FC236}">
                <a16:creationId xmlns:a16="http://schemas.microsoft.com/office/drawing/2014/main" id="{FDA7B1B9-ED22-08FB-2FCA-43E37C474F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2411983"/>
            <a:ext cx="1944916" cy="203403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D78816B-3021-D168-1584-6D82EB4A04DA}"/>
              </a:ext>
            </a:extLst>
          </p:cNvPr>
          <p:cNvSpPr txBox="1">
            <a:spLocks/>
          </p:cNvSpPr>
          <p:nvPr/>
        </p:nvSpPr>
        <p:spPr>
          <a:xfrm>
            <a:off x="10800768" y="1960270"/>
            <a:ext cx="1307097" cy="632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0.9 Hz</a:t>
            </a:r>
            <a:endParaRPr lang="he-I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3359956-8A3A-B2EA-FF1F-62B238E2CBED}"/>
              </a:ext>
            </a:extLst>
          </p:cNvPr>
          <p:cNvSpPr txBox="1">
            <a:spLocks/>
          </p:cNvSpPr>
          <p:nvPr/>
        </p:nvSpPr>
        <p:spPr>
          <a:xfrm>
            <a:off x="10725870" y="3428999"/>
            <a:ext cx="1456891" cy="6324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1.19 Hz</a:t>
            </a:r>
            <a:endParaRPr lang="he-I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2D313C7-9687-E6DA-A8B6-E193D2202DAB}"/>
              </a:ext>
            </a:extLst>
          </p:cNvPr>
          <p:cNvSpPr txBox="1">
            <a:spLocks/>
          </p:cNvSpPr>
          <p:nvPr/>
        </p:nvSpPr>
        <p:spPr>
          <a:xfrm>
            <a:off x="10667789" y="5077994"/>
            <a:ext cx="1524211" cy="6310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1.34 Hz</a:t>
            </a:r>
            <a:endParaRPr lang="he-I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E55171F-2443-81F2-B248-1120C7CF6D04}"/>
              </a:ext>
            </a:extLst>
          </p:cNvPr>
          <p:cNvCxnSpPr>
            <a:cxnSpLocks/>
          </p:cNvCxnSpPr>
          <p:nvPr/>
        </p:nvCxnSpPr>
        <p:spPr>
          <a:xfrm>
            <a:off x="4208463" y="3135312"/>
            <a:ext cx="0" cy="1209676"/>
          </a:xfrm>
          <a:prstGeom prst="straightConnector1">
            <a:avLst/>
          </a:prstGeom>
          <a:ln w="63500">
            <a:solidFill>
              <a:srgbClr val="FF0000">
                <a:alpha val="82000"/>
              </a:srgb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4CEB64A-9ED8-EFB4-3AAA-CFD546EFA437}"/>
              </a:ext>
            </a:extLst>
          </p:cNvPr>
          <p:cNvCxnSpPr>
            <a:cxnSpLocks/>
          </p:cNvCxnSpPr>
          <p:nvPr/>
        </p:nvCxnSpPr>
        <p:spPr>
          <a:xfrm flipV="1">
            <a:off x="4807744" y="3138611"/>
            <a:ext cx="0" cy="1206377"/>
          </a:xfrm>
          <a:prstGeom prst="straightConnector1">
            <a:avLst/>
          </a:prstGeom>
          <a:ln w="63500">
            <a:solidFill>
              <a:srgbClr val="FF0000">
                <a:alpha val="82000"/>
              </a:srgb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6200CAF-5828-60F3-86DE-266C959D2387}"/>
              </a:ext>
            </a:extLst>
          </p:cNvPr>
          <p:cNvCxnSpPr>
            <a:cxnSpLocks/>
          </p:cNvCxnSpPr>
          <p:nvPr/>
        </p:nvCxnSpPr>
        <p:spPr>
          <a:xfrm>
            <a:off x="5641976" y="3135312"/>
            <a:ext cx="0" cy="1209676"/>
          </a:xfrm>
          <a:prstGeom prst="straightConnector1">
            <a:avLst/>
          </a:prstGeom>
          <a:ln w="63500">
            <a:solidFill>
              <a:srgbClr val="FF0000">
                <a:alpha val="82000"/>
              </a:srgb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BEFE548-FC91-C2F5-9925-F6AA59C9AA90}"/>
              </a:ext>
            </a:extLst>
          </p:cNvPr>
          <p:cNvCxnSpPr>
            <a:cxnSpLocks/>
          </p:cNvCxnSpPr>
          <p:nvPr/>
        </p:nvCxnSpPr>
        <p:spPr>
          <a:xfrm>
            <a:off x="6261101" y="3149476"/>
            <a:ext cx="0" cy="1209676"/>
          </a:xfrm>
          <a:prstGeom prst="straightConnector1">
            <a:avLst/>
          </a:prstGeom>
          <a:ln w="63500">
            <a:solidFill>
              <a:srgbClr val="FF0000">
                <a:alpha val="82000"/>
              </a:srgb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1D316CF-FBFC-9AB1-008D-193193E8BF97}"/>
              </a:ext>
            </a:extLst>
          </p:cNvPr>
          <p:cNvCxnSpPr>
            <a:cxnSpLocks/>
          </p:cNvCxnSpPr>
          <p:nvPr/>
        </p:nvCxnSpPr>
        <p:spPr>
          <a:xfrm>
            <a:off x="9934576" y="3149476"/>
            <a:ext cx="0" cy="1209676"/>
          </a:xfrm>
          <a:prstGeom prst="straightConnector1">
            <a:avLst/>
          </a:prstGeom>
          <a:ln w="63500">
            <a:solidFill>
              <a:srgbClr val="FF0000">
                <a:alpha val="82000"/>
              </a:srgb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7E15316-CD28-5801-884D-3A17AE4D3BFB}"/>
              </a:ext>
            </a:extLst>
          </p:cNvPr>
          <p:cNvCxnSpPr>
            <a:cxnSpLocks/>
          </p:cNvCxnSpPr>
          <p:nvPr/>
        </p:nvCxnSpPr>
        <p:spPr>
          <a:xfrm flipV="1">
            <a:off x="8697119" y="3149476"/>
            <a:ext cx="0" cy="1206377"/>
          </a:xfrm>
          <a:prstGeom prst="straightConnector1">
            <a:avLst/>
          </a:prstGeom>
          <a:ln w="63500">
            <a:solidFill>
              <a:srgbClr val="FF0000">
                <a:alpha val="82000"/>
              </a:srgb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79C4A91-D496-43E4-0D94-C857D1778253}"/>
              </a:ext>
            </a:extLst>
          </p:cNvPr>
          <p:cNvCxnSpPr>
            <a:cxnSpLocks/>
          </p:cNvCxnSpPr>
          <p:nvPr/>
        </p:nvCxnSpPr>
        <p:spPr>
          <a:xfrm flipV="1">
            <a:off x="9351169" y="3138611"/>
            <a:ext cx="0" cy="1206377"/>
          </a:xfrm>
          <a:prstGeom prst="straightConnector1">
            <a:avLst/>
          </a:prstGeom>
          <a:ln w="63500">
            <a:solidFill>
              <a:srgbClr val="FF0000">
                <a:alpha val="82000"/>
              </a:srgb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203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EA6AD-C40C-88EE-66B3-259EE9B81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7B83-C620-3A9E-BEC7-45506AC1C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0"/>
            <a:ext cx="9905998" cy="1478570"/>
          </a:xfrm>
        </p:spPr>
        <p:txBody>
          <a:bodyPr/>
          <a:lstStyle/>
          <a:p>
            <a:pPr algn="r" rtl="1"/>
            <a:r>
              <a:rPr lang="he-IL" dirty="0"/>
              <a:t>כמות היפוכים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1DA7A4-291E-1F98-CAFF-14D17472F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37" y="1184338"/>
            <a:ext cx="9547145" cy="495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36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D482C-2F5E-2A9C-A9F5-4682DCE69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4D86A-A850-4EA6-9CB4-99693BAC6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97629"/>
            <a:ext cx="9905998" cy="1478570"/>
          </a:xfrm>
        </p:spPr>
        <p:txBody>
          <a:bodyPr/>
          <a:lstStyle/>
          <a:p>
            <a:pPr algn="r" rtl="1"/>
            <a:r>
              <a:rPr lang="he-IL" dirty="0"/>
              <a:t>מרחבי פאזה</a:t>
            </a:r>
            <a:endParaRPr lang="en-IL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8B2858B-CB5A-CC75-AC9C-79AAA3825B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066" y="2149816"/>
            <a:ext cx="11808360" cy="25902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2D318-B9B2-CF0F-3C19-CA2C7956D379}"/>
              </a:ext>
            </a:extLst>
          </p:cNvPr>
          <p:cNvSpPr txBox="1">
            <a:spLocks/>
          </p:cNvSpPr>
          <p:nvPr/>
        </p:nvSpPr>
        <p:spPr>
          <a:xfrm>
            <a:off x="1141412" y="908736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dirty="0"/>
              <a:t>נראה ש"כמות הכאוטיות" רציפה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981D44A-983F-C9A0-CEE1-F181FB2DC436}"/>
              </a:ext>
            </a:extLst>
          </p:cNvPr>
          <p:cNvSpPr txBox="1">
            <a:spLocks/>
          </p:cNvSpPr>
          <p:nvPr/>
        </p:nvSpPr>
        <p:spPr>
          <a:xfrm>
            <a:off x="1150277" y="1518809"/>
            <a:ext cx="1307097" cy="632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0.9 Hz</a:t>
            </a:r>
            <a:endParaRPr lang="he-I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20D2964-6205-3E35-1A2A-FA278B53B3B2}"/>
              </a:ext>
            </a:extLst>
          </p:cNvPr>
          <p:cNvSpPr txBox="1">
            <a:spLocks/>
          </p:cNvSpPr>
          <p:nvPr/>
        </p:nvSpPr>
        <p:spPr>
          <a:xfrm>
            <a:off x="3251200" y="1518809"/>
            <a:ext cx="1456891" cy="6324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0.94 Hz</a:t>
            </a:r>
            <a:endParaRPr lang="he-I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D79E1B7-7CF0-7D9A-F65D-791FCF009395}"/>
              </a:ext>
            </a:extLst>
          </p:cNvPr>
          <p:cNvSpPr txBox="1">
            <a:spLocks/>
          </p:cNvSpPr>
          <p:nvPr/>
        </p:nvSpPr>
        <p:spPr>
          <a:xfrm>
            <a:off x="5501917" y="1518809"/>
            <a:ext cx="1456891" cy="6324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1.19 Hz</a:t>
            </a:r>
            <a:endParaRPr lang="he-I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C948F07-1B71-0E56-3E97-587F2F88B6B1}"/>
              </a:ext>
            </a:extLst>
          </p:cNvPr>
          <p:cNvSpPr txBox="1">
            <a:spLocks/>
          </p:cNvSpPr>
          <p:nvPr/>
        </p:nvSpPr>
        <p:spPr>
          <a:xfrm>
            <a:off x="9936031" y="1518809"/>
            <a:ext cx="1524211" cy="6310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1.34 Hz</a:t>
            </a:r>
            <a:endParaRPr lang="he-I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BC8C0C1-CAC6-03DB-F727-A2BC474273A8}"/>
              </a:ext>
            </a:extLst>
          </p:cNvPr>
          <p:cNvSpPr txBox="1">
            <a:spLocks/>
          </p:cNvSpPr>
          <p:nvPr/>
        </p:nvSpPr>
        <p:spPr>
          <a:xfrm>
            <a:off x="7685314" y="1520207"/>
            <a:ext cx="1524211" cy="6310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1.28 Hz</a:t>
            </a:r>
            <a:endParaRPr lang="he-I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3.2V_0.9Hz">
            <a:extLst>
              <a:ext uri="{FF2B5EF4-FFF2-40B4-BE49-F238E27FC236}">
                <a16:creationId xmlns:a16="http://schemas.microsoft.com/office/drawing/2014/main" id="{5A6D06A3-D965-6EC2-9CE9-7B0EFEBA3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54" y="4786941"/>
            <a:ext cx="1944917" cy="2000251"/>
          </a:xfrm>
          <a:prstGeom prst="rect">
            <a:avLst/>
          </a:prstGeom>
        </p:spPr>
      </p:pic>
      <p:pic>
        <p:nvPicPr>
          <p:cNvPr id="15" name="3.2V_1.34Hz">
            <a:extLst>
              <a:ext uri="{FF2B5EF4-FFF2-40B4-BE49-F238E27FC236}">
                <a16:creationId xmlns:a16="http://schemas.microsoft.com/office/drawing/2014/main" id="{E30E0DD9-81E9-BCD0-AD73-0483CA570D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6031" y="4823968"/>
            <a:ext cx="1886857" cy="2034032"/>
          </a:xfrm>
          <a:prstGeom prst="rect">
            <a:avLst/>
          </a:prstGeom>
        </p:spPr>
      </p:pic>
      <p:pic>
        <p:nvPicPr>
          <p:cNvPr id="16" name="3.2V_1.19Hz">
            <a:extLst>
              <a:ext uri="{FF2B5EF4-FFF2-40B4-BE49-F238E27FC236}">
                <a16:creationId xmlns:a16="http://schemas.microsoft.com/office/drawing/2014/main" id="{8878B0DF-1B03-EE43-A42D-F618EBA529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6914" y="4786940"/>
            <a:ext cx="1944916" cy="203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8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EF9D0-8CB9-D660-C544-CDC8711CF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02003-BA9B-E8EF-632B-6A70922B4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0"/>
            <a:ext cx="9905998" cy="1478570"/>
          </a:xfrm>
        </p:spPr>
        <p:txBody>
          <a:bodyPr/>
          <a:lstStyle/>
          <a:p>
            <a:pPr algn="r" rtl="1"/>
            <a:r>
              <a:rPr lang="he-IL" dirty="0" err="1"/>
              <a:t>ספקטרוגרמה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F02C36-1EFC-AC8D-73B8-31EF4F9CF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864" y="1249206"/>
            <a:ext cx="9625092" cy="508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323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B00F5-0D6A-AB37-28E2-2BC38C330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1BE85-58D7-7AA8-DB3F-D93D667BE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913" y="766359"/>
            <a:ext cx="10515600" cy="1325563"/>
          </a:xfrm>
        </p:spPr>
        <p:txBody>
          <a:bodyPr/>
          <a:lstStyle/>
          <a:p>
            <a:pPr algn="r" rtl="1"/>
            <a:r>
              <a:rPr lang="he-IL" dirty="0"/>
              <a:t>מדדים לכאוס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8323D-3CD0-22D4-2884-49BA35BB1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866" y="1963975"/>
            <a:ext cx="10515600" cy="4351338"/>
          </a:xfrm>
        </p:spPr>
        <p:txBody>
          <a:bodyPr>
            <a:normAutofit/>
          </a:bodyPr>
          <a:lstStyle/>
          <a:p>
            <a:pPr algn="r" rtl="1"/>
            <a:r>
              <a:rPr lang="he-IL" dirty="0"/>
              <a:t>אנטרופיה ספקטרלית</a:t>
            </a:r>
          </a:p>
          <a:p>
            <a:pPr algn="r" rtl="1"/>
            <a:endParaRPr lang="he-IL" dirty="0"/>
          </a:p>
          <a:p>
            <a:pPr lvl="1" algn="r" rtl="1"/>
            <a:endParaRPr lang="he-IL" dirty="0"/>
          </a:p>
          <a:p>
            <a:pPr lvl="1" algn="r" rtl="1"/>
            <a:endParaRPr lang="he-IL" dirty="0"/>
          </a:p>
          <a:p>
            <a:pPr lvl="1"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33519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28C8A-C04D-68D8-0D2E-F5984CF63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C0F5A-E71D-5155-B67B-1972F0E69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913" y="766359"/>
            <a:ext cx="10515600" cy="1325563"/>
          </a:xfrm>
        </p:spPr>
        <p:txBody>
          <a:bodyPr/>
          <a:lstStyle/>
          <a:p>
            <a:pPr algn="r" rtl="1"/>
            <a:r>
              <a:rPr lang="he-IL" dirty="0"/>
              <a:t>מדדים לכאוס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04EC2-8D85-2086-EC42-9EAEDE68E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866" y="1963975"/>
            <a:ext cx="10515600" cy="4351338"/>
          </a:xfrm>
        </p:spPr>
        <p:txBody>
          <a:bodyPr>
            <a:normAutofit/>
          </a:bodyPr>
          <a:lstStyle/>
          <a:p>
            <a:pPr algn="r" rtl="1"/>
            <a:r>
              <a:rPr lang="he-IL" dirty="0"/>
              <a:t>אנטרופיה ספקטרלית</a:t>
            </a:r>
          </a:p>
          <a:p>
            <a:pPr lvl="1" algn="r" rtl="1"/>
            <a:endParaRPr lang="he-IL" dirty="0"/>
          </a:p>
          <a:p>
            <a:pPr lvl="1" algn="r" rtl="1"/>
            <a:endParaRPr lang="he-IL" dirty="0"/>
          </a:p>
          <a:p>
            <a:pPr lvl="1" algn="r" rtl="1"/>
            <a:endParaRPr lang="he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DFFEC9-EC4A-4F94-1E24-D0CFF0F15C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38" t="21044" r="8610" b="9297"/>
          <a:stretch>
            <a:fillRect/>
          </a:stretch>
        </p:blipFill>
        <p:spPr>
          <a:xfrm>
            <a:off x="4317999" y="626269"/>
            <a:ext cx="2627085" cy="136564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F598CDE-8FD1-85A3-B9CE-8F4D009134D4}"/>
              </a:ext>
            </a:extLst>
          </p:cNvPr>
          <p:cNvGrpSpPr/>
          <p:nvPr/>
        </p:nvGrpSpPr>
        <p:grpSpPr>
          <a:xfrm>
            <a:off x="131325" y="726432"/>
            <a:ext cx="3952281" cy="1237543"/>
            <a:chOff x="337447" y="421777"/>
            <a:chExt cx="4367321" cy="147760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CEECFEC-DCBE-AC04-E27A-446A72CCE333}"/>
                </a:ext>
              </a:extLst>
            </p:cNvPr>
            <p:cNvSpPr/>
            <p:nvPr/>
          </p:nvSpPr>
          <p:spPr>
            <a:xfrm>
              <a:off x="349944" y="439409"/>
              <a:ext cx="4354824" cy="145997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B283C78-DA7C-5401-D759-10B89595C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28358" b="51525"/>
            <a:stretch>
              <a:fillRect/>
            </a:stretch>
          </p:blipFill>
          <p:spPr>
            <a:xfrm>
              <a:off x="337447" y="421777"/>
              <a:ext cx="4367321" cy="107235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8C1034B-DB39-CD55-EEAE-8939EA8F4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4381" t="33295" b="51525"/>
            <a:stretch>
              <a:fillRect/>
            </a:stretch>
          </p:blipFill>
          <p:spPr>
            <a:xfrm>
              <a:off x="988786" y="1520621"/>
              <a:ext cx="2171365" cy="335813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9F4CC8-B48B-5CC0-9CC2-7B754A5DE313}"/>
                </a:ext>
              </a:extLst>
            </p:cNvPr>
            <p:cNvSpPr/>
            <p:nvPr/>
          </p:nvSpPr>
          <p:spPr>
            <a:xfrm>
              <a:off x="4245684" y="1164693"/>
              <a:ext cx="459084" cy="66093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</p:spTree>
    <p:extLst>
      <p:ext uri="{BB962C8B-B14F-4D97-AF65-F5344CB8AC3E}">
        <p14:creationId xmlns:p14="http://schemas.microsoft.com/office/powerpoint/2010/main" val="1541621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F2345-EC7C-9302-BA02-2BCDB1170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BB55-C5B0-9510-863B-F6AD9C17E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913" y="766359"/>
            <a:ext cx="10515600" cy="1325563"/>
          </a:xfrm>
        </p:spPr>
        <p:txBody>
          <a:bodyPr/>
          <a:lstStyle/>
          <a:p>
            <a:pPr algn="r" rtl="1"/>
            <a:r>
              <a:rPr lang="he-IL" dirty="0"/>
              <a:t>מדדים לכאוס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32100-B704-7D19-0739-6A3231389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866" y="1963975"/>
            <a:ext cx="10515600" cy="4351338"/>
          </a:xfrm>
        </p:spPr>
        <p:txBody>
          <a:bodyPr>
            <a:normAutofit/>
          </a:bodyPr>
          <a:lstStyle/>
          <a:p>
            <a:pPr algn="r" rtl="1"/>
            <a:r>
              <a:rPr lang="he-IL" dirty="0"/>
              <a:t>אנטרופיה ספקטרלית</a:t>
            </a:r>
          </a:p>
          <a:p>
            <a:pPr lvl="1" algn="r" rtl="1"/>
            <a:r>
              <a:rPr lang="he-IL" dirty="0"/>
              <a:t>קרוב ל-0 עבור מספר נמוך של תדרים פעילים</a:t>
            </a:r>
            <a:br>
              <a:rPr lang="en-US" dirty="0"/>
            </a:br>
            <a:r>
              <a:rPr lang="he-IL" dirty="0"/>
              <a:t>וקרוב ל-1 עבור מספר גבוה של תדרים פעילים</a:t>
            </a:r>
          </a:p>
          <a:p>
            <a:pPr algn="r" rtl="1"/>
            <a:endParaRPr lang="he-IL" dirty="0"/>
          </a:p>
          <a:p>
            <a:pPr lvl="1" algn="r" rtl="1"/>
            <a:endParaRPr lang="he-IL" dirty="0"/>
          </a:p>
          <a:p>
            <a:pPr lvl="1" algn="r" rtl="1"/>
            <a:endParaRPr lang="he-IL" dirty="0"/>
          </a:p>
          <a:p>
            <a:pPr lvl="1" algn="r" rtl="1"/>
            <a:endParaRPr lang="he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5EC0A6-4D19-6939-D899-6C43944384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38" t="21044" r="8610" b="9297"/>
          <a:stretch>
            <a:fillRect/>
          </a:stretch>
        </p:blipFill>
        <p:spPr>
          <a:xfrm>
            <a:off x="4317999" y="626269"/>
            <a:ext cx="2627085" cy="13656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80AA13-B975-8CC1-FD97-C08A49E3B7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42" t="11006" r="2780" b="10726"/>
          <a:stretch>
            <a:fillRect/>
          </a:stretch>
        </p:blipFill>
        <p:spPr>
          <a:xfrm>
            <a:off x="196077" y="3027722"/>
            <a:ext cx="4354824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ABB354-44D6-FBEE-2183-258C506F6C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8152" r="35166" b="34026"/>
          <a:stretch>
            <a:fillRect/>
          </a:stretch>
        </p:blipFill>
        <p:spPr>
          <a:xfrm>
            <a:off x="87281" y="2396052"/>
            <a:ext cx="3952281" cy="39425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E998BFA-BD61-D7D0-DB69-72B04D97868A}"/>
              </a:ext>
            </a:extLst>
          </p:cNvPr>
          <p:cNvGrpSpPr/>
          <p:nvPr/>
        </p:nvGrpSpPr>
        <p:grpSpPr>
          <a:xfrm>
            <a:off x="131325" y="726432"/>
            <a:ext cx="3952281" cy="1237543"/>
            <a:chOff x="337447" y="421777"/>
            <a:chExt cx="4367321" cy="147760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765FC17-84BE-FA6E-43BA-E0C8A84DDF8B}"/>
                </a:ext>
              </a:extLst>
            </p:cNvPr>
            <p:cNvSpPr/>
            <p:nvPr/>
          </p:nvSpPr>
          <p:spPr>
            <a:xfrm>
              <a:off x="349944" y="439409"/>
              <a:ext cx="4354824" cy="145997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ED95EC8-3B89-C35C-7662-DD3BD6E7A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28358" b="51525"/>
            <a:stretch>
              <a:fillRect/>
            </a:stretch>
          </p:blipFill>
          <p:spPr>
            <a:xfrm>
              <a:off x="337447" y="421777"/>
              <a:ext cx="4367321" cy="107235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3D726E8-3BBC-0A54-5AF2-34C486623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4381" t="33295" b="51525"/>
            <a:stretch>
              <a:fillRect/>
            </a:stretch>
          </p:blipFill>
          <p:spPr>
            <a:xfrm>
              <a:off x="988786" y="1520621"/>
              <a:ext cx="2171365" cy="335813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3EAC3FE-5401-A983-4818-CE5A72698A17}"/>
                </a:ext>
              </a:extLst>
            </p:cNvPr>
            <p:cNvSpPr/>
            <p:nvPr/>
          </p:nvSpPr>
          <p:spPr>
            <a:xfrm>
              <a:off x="4245684" y="1164693"/>
              <a:ext cx="459084" cy="66093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</p:spTree>
    <p:extLst>
      <p:ext uri="{BB962C8B-B14F-4D97-AF65-F5344CB8AC3E}">
        <p14:creationId xmlns:p14="http://schemas.microsoft.com/office/powerpoint/2010/main" val="634022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0A4D5-6CF9-D303-8237-B3ED0B65E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0C710-D5B8-66AB-73A8-CD17EFF7A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913" y="766359"/>
            <a:ext cx="10515600" cy="1325563"/>
          </a:xfrm>
        </p:spPr>
        <p:txBody>
          <a:bodyPr/>
          <a:lstStyle/>
          <a:p>
            <a:pPr algn="r" rtl="1"/>
            <a:r>
              <a:rPr lang="he-IL" dirty="0"/>
              <a:t>מדדים לכאוס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8D034-15B0-9C61-8ACA-E87128214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866" y="1963975"/>
            <a:ext cx="10515600" cy="4351338"/>
          </a:xfrm>
        </p:spPr>
        <p:txBody>
          <a:bodyPr>
            <a:normAutofit/>
          </a:bodyPr>
          <a:lstStyle/>
          <a:p>
            <a:pPr algn="r" rtl="1"/>
            <a:r>
              <a:rPr lang="he-IL" dirty="0"/>
              <a:t>אנטרופיה ספקטרלית</a:t>
            </a:r>
          </a:p>
          <a:p>
            <a:pPr lvl="1" algn="r" rtl="1"/>
            <a:r>
              <a:rPr lang="he-IL" dirty="0"/>
              <a:t>קרוב ל-0 עבור מספר נמוך של תדרים פעילים</a:t>
            </a:r>
            <a:br>
              <a:rPr lang="en-US" dirty="0"/>
            </a:br>
            <a:r>
              <a:rPr lang="he-IL" dirty="0"/>
              <a:t>וקרוב ל-1 עבור מספר גבוה של תדרים פעילים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קוהרנטיות פאזות</a:t>
            </a:r>
          </a:p>
          <a:p>
            <a:pPr lvl="1" algn="r" rtl="1"/>
            <a:endParaRPr lang="he-IL" dirty="0"/>
          </a:p>
          <a:p>
            <a:pPr lvl="1" algn="r" rtl="1"/>
            <a:endParaRPr lang="he-IL" dirty="0"/>
          </a:p>
          <a:p>
            <a:pPr lvl="1" algn="r" rtl="1"/>
            <a:endParaRPr lang="he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3E2070-006C-7050-BECD-77E33E1B05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38" t="21044" r="8610" b="9297"/>
          <a:stretch>
            <a:fillRect/>
          </a:stretch>
        </p:blipFill>
        <p:spPr>
          <a:xfrm>
            <a:off x="4317999" y="626269"/>
            <a:ext cx="2627085" cy="13656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A74F4E-4970-CE3B-1145-44EB118B04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42" t="11006" r="2780" b="10726"/>
          <a:stretch>
            <a:fillRect/>
          </a:stretch>
        </p:blipFill>
        <p:spPr>
          <a:xfrm>
            <a:off x="196077" y="3027722"/>
            <a:ext cx="4354824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4338F2-B56E-379C-FFDC-DF79073682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8152" r="35166" b="34026"/>
          <a:stretch>
            <a:fillRect/>
          </a:stretch>
        </p:blipFill>
        <p:spPr>
          <a:xfrm>
            <a:off x="87281" y="2396052"/>
            <a:ext cx="3952281" cy="39425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BAC7B6F-8DCD-1825-5762-5DF5B8096B4A}"/>
              </a:ext>
            </a:extLst>
          </p:cNvPr>
          <p:cNvGrpSpPr/>
          <p:nvPr/>
        </p:nvGrpSpPr>
        <p:grpSpPr>
          <a:xfrm>
            <a:off x="131325" y="726432"/>
            <a:ext cx="3952281" cy="1237543"/>
            <a:chOff x="337447" y="421777"/>
            <a:chExt cx="4367321" cy="147760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5A5E6E1-93F7-57B1-0EAD-C374FF4C91ED}"/>
                </a:ext>
              </a:extLst>
            </p:cNvPr>
            <p:cNvSpPr/>
            <p:nvPr/>
          </p:nvSpPr>
          <p:spPr>
            <a:xfrm>
              <a:off x="349944" y="439409"/>
              <a:ext cx="4354824" cy="145997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D294479-471B-61BF-CFA5-4EB256068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28358" b="51525"/>
            <a:stretch>
              <a:fillRect/>
            </a:stretch>
          </p:blipFill>
          <p:spPr>
            <a:xfrm>
              <a:off x="337447" y="421777"/>
              <a:ext cx="4367321" cy="107235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B878CC5-28B3-C3FE-370D-37B68C311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4381" t="33295" b="51525"/>
            <a:stretch>
              <a:fillRect/>
            </a:stretch>
          </p:blipFill>
          <p:spPr>
            <a:xfrm>
              <a:off x="988786" y="1520621"/>
              <a:ext cx="2171365" cy="335813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768190D-FCEC-CFBB-5FF5-F629AD85C260}"/>
                </a:ext>
              </a:extLst>
            </p:cNvPr>
            <p:cNvSpPr/>
            <p:nvPr/>
          </p:nvSpPr>
          <p:spPr>
            <a:xfrm>
              <a:off x="4245684" y="1164693"/>
              <a:ext cx="459084" cy="66093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</p:spTree>
    <p:extLst>
      <p:ext uri="{BB962C8B-B14F-4D97-AF65-F5344CB8AC3E}">
        <p14:creationId xmlns:p14="http://schemas.microsoft.com/office/powerpoint/2010/main" val="639407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FF43D-56C5-2E3B-BEDE-B2F4E4C32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F0DF-C798-5121-3C9A-40462A382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913" y="766359"/>
            <a:ext cx="10515600" cy="1325563"/>
          </a:xfrm>
        </p:spPr>
        <p:txBody>
          <a:bodyPr/>
          <a:lstStyle/>
          <a:p>
            <a:pPr algn="r" rtl="1"/>
            <a:r>
              <a:rPr lang="he-IL" dirty="0"/>
              <a:t>מדדים לכאוס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B0220-0C18-2C61-2708-B20F76F55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866" y="1963975"/>
            <a:ext cx="10515600" cy="4351338"/>
          </a:xfrm>
        </p:spPr>
        <p:txBody>
          <a:bodyPr>
            <a:normAutofit/>
          </a:bodyPr>
          <a:lstStyle/>
          <a:p>
            <a:pPr algn="r" rtl="1"/>
            <a:r>
              <a:rPr lang="he-IL" dirty="0"/>
              <a:t>אנטרופיה ספקטרלית</a:t>
            </a:r>
          </a:p>
          <a:p>
            <a:pPr lvl="1" algn="r" rtl="1"/>
            <a:r>
              <a:rPr lang="he-IL" dirty="0"/>
              <a:t>קרוב ל-0 עבור מספר נמוך של תדרים פעילים</a:t>
            </a:r>
            <a:br>
              <a:rPr lang="en-US" dirty="0"/>
            </a:br>
            <a:r>
              <a:rPr lang="he-IL" dirty="0"/>
              <a:t>וקרוב ל-1 עבור מספר גבוה של תדרים פעילים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קוהרנטיות פאזות</a:t>
            </a:r>
          </a:p>
          <a:p>
            <a:pPr lvl="1" algn="r" rtl="1"/>
            <a:r>
              <a:rPr lang="he-IL" dirty="0"/>
              <a:t>קרוב ל-0 כאשר אין קשר קבוע בין הפאזות</a:t>
            </a:r>
            <a:br>
              <a:rPr lang="en-US" dirty="0"/>
            </a:br>
            <a:r>
              <a:rPr lang="he-IL" dirty="0"/>
              <a:t>וקרוב ל-1 כאשר הפאזות מתואמות</a:t>
            </a:r>
          </a:p>
          <a:p>
            <a:pPr lvl="1" algn="r" rtl="1"/>
            <a:endParaRPr lang="he-IL" dirty="0"/>
          </a:p>
          <a:p>
            <a:pPr lvl="1" algn="r" rtl="1"/>
            <a:endParaRPr lang="he-IL" dirty="0"/>
          </a:p>
          <a:p>
            <a:pPr lvl="1" algn="r" rtl="1"/>
            <a:endParaRPr lang="he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A9BD85-474C-02FF-17FA-6A34D2FF05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38" t="21044" r="8610" b="9297"/>
          <a:stretch>
            <a:fillRect/>
          </a:stretch>
        </p:blipFill>
        <p:spPr>
          <a:xfrm>
            <a:off x="4317999" y="626269"/>
            <a:ext cx="2627085" cy="13656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E20999-49FC-349C-7476-5353713CBC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42" t="11006" r="2780" b="10726"/>
          <a:stretch>
            <a:fillRect/>
          </a:stretch>
        </p:blipFill>
        <p:spPr>
          <a:xfrm>
            <a:off x="196077" y="3027722"/>
            <a:ext cx="4354824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246394-5AF2-6226-6FD6-C615306BB1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8152" r="35166" b="34026"/>
          <a:stretch>
            <a:fillRect/>
          </a:stretch>
        </p:blipFill>
        <p:spPr>
          <a:xfrm>
            <a:off x="87281" y="2396052"/>
            <a:ext cx="3952281" cy="39425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0697E77-1A24-A405-4DDD-71D621E82317}"/>
              </a:ext>
            </a:extLst>
          </p:cNvPr>
          <p:cNvGrpSpPr/>
          <p:nvPr/>
        </p:nvGrpSpPr>
        <p:grpSpPr>
          <a:xfrm>
            <a:off x="131325" y="726432"/>
            <a:ext cx="3952281" cy="1237543"/>
            <a:chOff x="337447" y="421777"/>
            <a:chExt cx="4367321" cy="147760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2B29B8-8620-2407-C77C-AA599C357B6D}"/>
                </a:ext>
              </a:extLst>
            </p:cNvPr>
            <p:cNvSpPr/>
            <p:nvPr/>
          </p:nvSpPr>
          <p:spPr>
            <a:xfrm>
              <a:off x="349944" y="439409"/>
              <a:ext cx="4354824" cy="145997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846CEA0-FD09-77F6-6E36-32794B908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28358" b="51525"/>
            <a:stretch>
              <a:fillRect/>
            </a:stretch>
          </p:blipFill>
          <p:spPr>
            <a:xfrm>
              <a:off x="337447" y="421777"/>
              <a:ext cx="4367321" cy="107235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FEDD2D9-1BBB-559F-1F5F-E9F4C75BE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4381" t="33295" b="51525"/>
            <a:stretch>
              <a:fillRect/>
            </a:stretch>
          </p:blipFill>
          <p:spPr>
            <a:xfrm>
              <a:off x="988786" y="1520621"/>
              <a:ext cx="2171365" cy="335813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2789C9-C8EE-9A56-DFB7-8E3AF5D68433}"/>
                </a:ext>
              </a:extLst>
            </p:cNvPr>
            <p:cNvSpPr/>
            <p:nvPr/>
          </p:nvSpPr>
          <p:spPr>
            <a:xfrm>
              <a:off x="4245684" y="1164693"/>
              <a:ext cx="459084" cy="66093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215C336-093C-73F9-3F27-A47F219561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0234" y="5024151"/>
            <a:ext cx="4573443" cy="14366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024D04-A2D4-7849-646D-24081F1ED6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4821" r="45714"/>
          <a:stretch>
            <a:fillRect/>
          </a:stretch>
        </p:blipFill>
        <p:spPr>
          <a:xfrm>
            <a:off x="196077" y="5353351"/>
            <a:ext cx="3309257" cy="77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26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7527D-A213-B42A-BC1D-6097FBAA1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7ECD-F6B0-A564-FCCA-6E62EB142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0"/>
            <a:ext cx="9905998" cy="1478570"/>
          </a:xfrm>
        </p:spPr>
        <p:txBody>
          <a:bodyPr/>
          <a:lstStyle/>
          <a:p>
            <a:pPr algn="r" rtl="1"/>
            <a:r>
              <a:rPr lang="he-IL" dirty="0"/>
              <a:t>מדדי הקוהרנטיות והאנטרופיה הספקטרלית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B2703E-C16D-A9A9-2EF7-8FE38ABD6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754" y="1326004"/>
            <a:ext cx="6949312" cy="508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0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C7776-C97C-49FE-DF8D-F46F843D0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דיון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13308-E131-C059-FCB5-027DA7F4B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13" y="1658143"/>
            <a:ext cx="10515599" cy="3541714"/>
          </a:xfrm>
        </p:spPr>
        <p:txBody>
          <a:bodyPr>
            <a:noAutofit/>
          </a:bodyPr>
          <a:lstStyle/>
          <a:p>
            <a:pPr algn="r" rtl="1"/>
            <a:r>
              <a:rPr lang="he-IL" dirty="0">
                <a:latin typeface="+mj-lt"/>
              </a:rPr>
              <a:t>הפרדה לתחומי תדרים עם אופי תנועה כאוטי ולא כאוטי</a:t>
            </a:r>
          </a:p>
          <a:p>
            <a:pPr marL="0" indent="0" algn="ctr">
              <a:buNone/>
            </a:pPr>
            <a:r>
              <a:rPr lang="en-US" dirty="0">
                <a:latin typeface="+mj-lt"/>
              </a:rPr>
              <a:t>0.9-0.93Hz,1.29-1.34Hz - Non-Chaotic,	 0.94-1.28Hz - Chaotic</a:t>
            </a:r>
          </a:p>
          <a:p>
            <a:pPr algn="r" rtl="1"/>
            <a:r>
              <a:rPr lang="he-IL" dirty="0">
                <a:latin typeface="+mj-lt"/>
              </a:rPr>
              <a:t>ייתכן שאיזון בין הכנסת מספיק אנרגיה כדי לאפשר תנועה כאוטית, לבין תדירות גבוהה מדי שהמערכת לא מספיקה להגיב אליה</a:t>
            </a:r>
          </a:p>
          <a:p>
            <a:pPr algn="r" rtl="1"/>
            <a:r>
              <a:rPr lang="he-IL" dirty="0"/>
              <a:t>קשר לרזוננס של מטוטלת בודדת</a:t>
            </a:r>
            <a:endParaRPr lang="he-IL" dirty="0">
              <a:latin typeface="+mj-lt"/>
            </a:endParaRPr>
          </a:p>
          <a:p>
            <a:pPr algn="r" rtl="1"/>
            <a:r>
              <a:rPr lang="he-IL" dirty="0">
                <a:latin typeface="+mj-lt"/>
              </a:rPr>
              <a:t>רציפות מידת הכאוס במערכת</a:t>
            </a:r>
          </a:p>
          <a:p>
            <a:pPr marL="457200" lvl="1" indent="0" algn="r" rtl="1">
              <a:buNone/>
            </a:pPr>
            <a:endParaRPr lang="en-IL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F4D0F1-C2CC-8B7E-E061-CA5627B4E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60" y="3691889"/>
            <a:ext cx="4829780" cy="226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605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BABFB-8510-E18E-E179-2615AE337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54942-A4F6-9A4B-83F4-83430C0A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דיון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406F6-CBB1-3E48-EEBF-3B4F1F945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58143"/>
            <a:ext cx="9905999" cy="3541714"/>
          </a:xfrm>
        </p:spPr>
        <p:txBody>
          <a:bodyPr>
            <a:noAutofit/>
          </a:bodyPr>
          <a:lstStyle/>
          <a:p>
            <a:pPr algn="r" rtl="1"/>
            <a:r>
              <a:rPr lang="he-IL" sz="3200" dirty="0">
                <a:latin typeface="+mj-lt"/>
              </a:rPr>
              <a:t>כיוונים להמשך:</a:t>
            </a:r>
          </a:p>
          <a:p>
            <a:pPr algn="r" rtl="1"/>
            <a:r>
              <a:rPr lang="he-IL" sz="3200" dirty="0">
                <a:latin typeface="+mj-lt"/>
              </a:rPr>
              <a:t>לשנות את אורך המוטות כדי להבין את הקשר בין אורך המטוטלת לתחומי התדירויות הכאוטיות דרך תדירויות הרזוננס</a:t>
            </a:r>
          </a:p>
          <a:p>
            <a:pPr algn="r" rtl="1"/>
            <a:r>
              <a:rPr lang="he-IL" sz="3200" dirty="0">
                <a:latin typeface="+mj-lt"/>
              </a:rPr>
              <a:t>להרחיב את תחומי התדירויות שבדקנו</a:t>
            </a:r>
          </a:p>
          <a:p>
            <a:pPr algn="r" rtl="1"/>
            <a:r>
              <a:rPr lang="he-IL" sz="3200" dirty="0">
                <a:latin typeface="+mj-lt"/>
              </a:rPr>
              <a:t>להבין את השפעת אמפליטודת הכוח המאלץ</a:t>
            </a:r>
          </a:p>
          <a:p>
            <a:pPr algn="r" rtl="1"/>
            <a:r>
              <a:rPr lang="he-IL" sz="3200" dirty="0">
                <a:latin typeface="+mj-lt"/>
              </a:rPr>
              <a:t>למצוא </a:t>
            </a:r>
            <a:r>
              <a:rPr lang="he-IL" sz="3200" dirty="0" err="1">
                <a:latin typeface="+mj-lt"/>
              </a:rPr>
              <a:t>ביפרוקציות</a:t>
            </a:r>
            <a:endParaRPr lang="he-IL" sz="3200" dirty="0">
              <a:latin typeface="+mj-lt"/>
            </a:endParaRPr>
          </a:p>
          <a:p>
            <a:pPr algn="r" rtl="1"/>
            <a:endParaRPr lang="he-IL" sz="2400" dirty="0">
              <a:latin typeface="+mj-lt"/>
            </a:endParaRPr>
          </a:p>
          <a:p>
            <a:pPr marL="457200" lvl="1" indent="0" algn="r" rtl="1">
              <a:buNone/>
            </a:pPr>
            <a:endParaRPr lang="en-IL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93874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3A526-91D0-E47C-B207-F345F7AFD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68B50-8CCA-540C-B215-686A9E12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שאלות?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71FBA-9004-DC20-AB28-FD75E9E87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540" y="2696993"/>
            <a:ext cx="9905999" cy="3541714"/>
          </a:xfrm>
        </p:spPr>
        <p:txBody>
          <a:bodyPr>
            <a:normAutofit/>
          </a:bodyPr>
          <a:lstStyle/>
          <a:p>
            <a:pPr marL="457200" lvl="1" indent="0" algn="r" rtl="1">
              <a:buNone/>
            </a:pPr>
            <a:endParaRPr lang="he-IL" dirty="0"/>
          </a:p>
          <a:p>
            <a:pPr marL="457200" lvl="1" indent="0" algn="r" rtl="1">
              <a:buNone/>
            </a:pPr>
            <a:endParaRPr lang="he-IL" dirty="0"/>
          </a:p>
          <a:p>
            <a:pPr marL="457200" lvl="1" indent="0" algn="r" rtl="1">
              <a:buNone/>
            </a:pPr>
            <a:endParaRPr lang="he-IL" dirty="0"/>
          </a:p>
          <a:p>
            <a:pPr marL="457200" lvl="1" indent="0" algn="r" rtl="1">
              <a:buNone/>
            </a:pPr>
            <a:endParaRPr lang="he-IL" dirty="0"/>
          </a:p>
          <a:p>
            <a:pPr marL="457200" lvl="1" indent="0" algn="r" rtl="1">
              <a:buNone/>
            </a:pPr>
            <a:endParaRPr lang="he-IL" dirty="0"/>
          </a:p>
          <a:p>
            <a:pPr marL="457200" lvl="1" indent="0" algn="r" rtl="1">
              <a:buNone/>
            </a:pPr>
            <a:endParaRPr lang="he-IL" dirty="0"/>
          </a:p>
          <a:p>
            <a:pPr marL="457200" lvl="1" indent="0" algn="r" rtl="1">
              <a:buNone/>
            </a:pPr>
            <a:r>
              <a:rPr lang="he-IL" dirty="0"/>
              <a:t>סרטון כאוטי כדי להפנט את הצופים</a:t>
            </a:r>
            <a:endParaRPr lang="en-IL" dirty="0"/>
          </a:p>
        </p:txBody>
      </p:sp>
      <p:pic>
        <p:nvPicPr>
          <p:cNvPr id="11" name="3.2V_1.00Hz">
            <a:extLst>
              <a:ext uri="{FF2B5EF4-FFF2-40B4-BE49-F238E27FC236}">
                <a16:creationId xmlns:a16="http://schemas.microsoft.com/office/drawing/2014/main" id="{70A74733-40D9-DCFB-A361-6D9CF6ACA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60" y="700871"/>
            <a:ext cx="53721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551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8765</TotalTime>
  <Words>494</Words>
  <Application>Microsoft Office PowerPoint</Application>
  <PresentationFormat>מסך רחב</PresentationFormat>
  <Paragraphs>149</Paragraphs>
  <Slides>22</Slides>
  <Notes>21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Wingdings</vt:lpstr>
      <vt:lpstr>Office Theme</vt:lpstr>
      <vt:lpstr>מטוטלת כפולה בתוספת כוח מאלץ -   תלות "רמת הכאוטיות" בתדירות האילוץ</vt:lpstr>
      <vt:lpstr>מושגי יסוד</vt:lpstr>
      <vt:lpstr>מושגי יסוד</vt:lpstr>
      <vt:lpstr>מושגי יסוד</vt:lpstr>
      <vt:lpstr>מוטיבציה</vt:lpstr>
      <vt:lpstr>מוטיבציה - המשך</vt:lpstr>
      <vt:lpstr>מערכת הניסוי</vt:lpstr>
      <vt:lpstr>עיבוד נתונים</vt:lpstr>
      <vt:lpstr>עיבוד נתונים</vt:lpstr>
      <vt:lpstr>עיבוד נתונים</vt:lpstr>
      <vt:lpstr>כמות היפוכים</vt:lpstr>
      <vt:lpstr>מרחבי פאזה</vt:lpstr>
      <vt:lpstr>ספקטרוגרמה</vt:lpstr>
      <vt:lpstr>מדדים לכאוס</vt:lpstr>
      <vt:lpstr>מדדים לכאוס</vt:lpstr>
      <vt:lpstr>מדדים לכאוס</vt:lpstr>
      <vt:lpstr>מדדים לכאוס</vt:lpstr>
      <vt:lpstr>מדדים לכאוס</vt:lpstr>
      <vt:lpstr>מדדי הקוהרנטיות והאנטרופיה הספקטרלית</vt:lpstr>
      <vt:lpstr>דיון</vt:lpstr>
      <vt:lpstr>דיון</vt:lpstr>
      <vt:lpstr>שאלות?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Nir Cohen</dc:creator>
  <cp:lastModifiedBy>Shaked Sukiennik</cp:lastModifiedBy>
  <cp:revision>35</cp:revision>
  <dcterms:created xsi:type="dcterms:W3CDTF">2026-01-12T09:26:34Z</dcterms:created>
  <dcterms:modified xsi:type="dcterms:W3CDTF">2026-06-29T15:43:35Z</dcterms:modified>
</cp:coreProperties>
</file>